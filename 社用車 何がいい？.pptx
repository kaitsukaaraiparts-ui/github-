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80" autoAdjust="0"/>
    <p:restoredTop sz="94660"/>
  </p:normalViewPr>
  <p:slideViewPr>
    <p:cSldViewPr snapToGrid="0">
      <p:cViewPr varScale="1">
        <p:scale>
          <a:sx n="79" d="100"/>
          <a:sy n="79" d="100"/>
        </p:scale>
        <p:origin x="48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6E5DE7A-A54E-ED51-AA75-07024F5CE62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2B0915D1-4570-2C0D-BFAE-40265FD01D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6952B65-351B-6E79-C7BC-F340BE348F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95ED3D-3DC2-4F4E-A783-5F26B70916F5}" type="datetimeFigureOut">
              <a:rPr kumimoji="1" lang="ja-JP" altLang="en-US" smtClean="0"/>
              <a:t>2026/3/17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898E2FE-9BE9-FC41-0FD1-0B152C4772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5101FCC-01FD-4701-599E-71574E4C05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D6F450-6391-4968-9531-49CC34F7EAF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631476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D34E859-AAFC-3A34-11D5-E2ACD46FBF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2BD99A36-1C2D-FC47-C4CE-BA4881B4F8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8A48BEB-2FFF-F097-9328-53DDC0F47F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95ED3D-3DC2-4F4E-A783-5F26B70916F5}" type="datetimeFigureOut">
              <a:rPr kumimoji="1" lang="ja-JP" altLang="en-US" smtClean="0"/>
              <a:t>2026/3/17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7E72BCA-D123-7CBC-3EED-70B18C1CB6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BE2351C-620A-3C83-ABBA-0D13BD35C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D6F450-6391-4968-9531-49CC34F7EAF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308279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30DE9B2-B615-7564-4411-E2D328C525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B12EBB82-8904-D988-92F4-E8DB4ED749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54AC310-413D-48CD-116B-FAD9BE6D68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95ED3D-3DC2-4F4E-A783-5F26B70916F5}" type="datetimeFigureOut">
              <a:rPr kumimoji="1" lang="ja-JP" altLang="en-US" smtClean="0"/>
              <a:t>2026/3/17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AD34DF9-4009-ED5C-0C1A-EBCC36A5DC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61ED13B-319C-6003-9A1B-292F77CC79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D6F450-6391-4968-9531-49CC34F7EAF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30108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844F78F-7246-A7B8-CA3D-6BF76C5B54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E76D8192-912D-BAE6-6110-F4069133E54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EE65AED-D3C7-C0BB-2A22-82A16555A2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15009403-8A67-38E6-DCFC-DF73796D44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95ED3D-3DC2-4F4E-A783-5F26B70916F5}" type="datetimeFigureOut">
              <a:rPr kumimoji="1" lang="ja-JP" altLang="en-US" smtClean="0"/>
              <a:t>2026/3/17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B90E617-01CA-79B1-9710-1612A18B66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8A4E0CC2-D722-A01F-656F-DAD5368EF4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D6F450-6391-4968-9531-49CC34F7EAF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161411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D9763DA-83CA-9F18-AB16-077992C045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5841BC6-75C8-29D3-62FF-904A336D38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7F54403-B68A-6F32-F1BE-6D4A03A19E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0A9A1DB8-8298-7C42-AA87-E4C778D41C5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02AA22C0-7B54-22E1-078F-44B5A192208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333301D6-ADA8-B16C-ADDB-D311A1A5C0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95ED3D-3DC2-4F4E-A783-5F26B70916F5}" type="datetimeFigureOut">
              <a:rPr kumimoji="1" lang="ja-JP" altLang="en-US" smtClean="0"/>
              <a:t>2026/3/17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A34E5F58-EDA8-7213-37E4-2D24B5A4CE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F94DF713-93E7-3CBB-EBBC-0176A12F0C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D6F450-6391-4968-9531-49CC34F7EAF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593576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E2D28D4-9366-4721-EC97-B954E869DA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2D84873A-914A-8994-3C0E-FFA981BB54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95ED3D-3DC2-4F4E-A783-5F26B70916F5}" type="datetimeFigureOut">
              <a:rPr kumimoji="1" lang="ja-JP" altLang="en-US" smtClean="0"/>
              <a:t>2026/3/17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1AF40CAF-0879-1EA1-90D1-29EFD40A9F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0826730A-59D9-FD40-7919-C20E5712C5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D6F450-6391-4968-9531-49CC34F7EAF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7402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494FDE85-00B6-985E-DB1C-0943B03158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95ED3D-3DC2-4F4E-A783-5F26B70916F5}" type="datetimeFigureOut">
              <a:rPr kumimoji="1" lang="ja-JP" altLang="en-US" smtClean="0"/>
              <a:t>2026/3/17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4139CC4B-4C90-90F7-0D13-A79C2DC957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EE17E761-ED56-9E1B-EB0E-33205D33C9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D6F450-6391-4968-9531-49CC34F7EAF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083143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65A413E-8E2E-FA69-DCF7-61570715D1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2A63ABB-2C28-37A3-0664-6C036A7702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6E46D8DE-1D3C-2EB8-51E2-A86633A253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CFB6B5EF-06B1-5E58-5B58-66CD831F52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95ED3D-3DC2-4F4E-A783-5F26B70916F5}" type="datetimeFigureOut">
              <a:rPr kumimoji="1" lang="ja-JP" altLang="en-US" smtClean="0"/>
              <a:t>2026/3/17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631B7332-C1BE-C2A2-2AA0-7353A43297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C3382E2D-DA9A-AFC7-6121-52B3D55E0F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D6F450-6391-4968-9531-49CC34F7EAF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800997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DEC96A7-3B72-A78F-120F-7CC7137259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4A3C73AC-B1AE-DF7D-9479-5117BF88581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3BDE7596-B8F0-913B-FE31-ECB39415F3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5A14F0CD-A12C-2D90-D803-BC995887FC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95ED3D-3DC2-4F4E-A783-5F26B70916F5}" type="datetimeFigureOut">
              <a:rPr kumimoji="1" lang="ja-JP" altLang="en-US" smtClean="0"/>
              <a:t>2026/3/17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62EC222F-A566-5BFB-BCB6-6255273D98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F811102F-3ADB-4FE7-4E11-AA517316B4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D6F450-6391-4968-9531-49CC34F7EAF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767566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72FE0ED-FBC8-CB88-14B7-51FBA030DB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C86C8A04-14F6-48A6-91A3-DAA6A8AC69D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EBC901F-5101-8471-7D9F-9E2B2E3F90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95ED3D-3DC2-4F4E-A783-5F26B70916F5}" type="datetimeFigureOut">
              <a:rPr kumimoji="1" lang="ja-JP" altLang="en-US" smtClean="0"/>
              <a:t>2026/3/17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F42B2D4-08CF-8FCC-077A-3A9EDAD331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98952E1-6906-C602-993C-689E4BF02D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D6F450-6391-4968-9531-49CC34F7EAF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782499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2842CD36-E643-2E3F-C82C-17904C8D629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F662818-6889-CDF7-788E-1FE886B7861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A8F7B38-CBD7-D471-5E3F-008748BC40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95ED3D-3DC2-4F4E-A783-5F26B70916F5}" type="datetimeFigureOut">
              <a:rPr kumimoji="1" lang="ja-JP" altLang="en-US" smtClean="0"/>
              <a:t>2026/3/17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B37C9FB-242F-F301-4F40-760340E929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9407EB8-ECC4-EC83-FF23-4EF5C5EF0C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D6F450-6391-4968-9531-49CC34F7EAF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01528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934E3142-BCD9-4B8E-77E8-601597DCA6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E3F7FC6-D5B8-F393-5CF9-FFA40CD043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F52903B-33F6-7C2D-EDCD-1AE980638AF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095ED3D-3DC2-4F4E-A783-5F26B70916F5}" type="datetimeFigureOut">
              <a:rPr kumimoji="1" lang="ja-JP" altLang="en-US" smtClean="0"/>
              <a:t>2026/3/17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A089BE2-0A09-A2C3-D7FD-EE2F9957B3C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4D44F32-2200-68AD-B372-ABFA7B67926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5D6F450-6391-4968-9531-49CC34F7EAF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970856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1F5C60C-3B92-88E2-2F8C-1575A4793A8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kumimoji="1" lang="ja-JP" altLang="en-US" dirty="0"/>
              <a:t>社用車</a:t>
            </a:r>
            <a:r>
              <a:rPr lang="ja-JP" altLang="en-US" dirty="0"/>
              <a:t> </a:t>
            </a:r>
            <a:r>
              <a:rPr kumimoji="1" lang="ja-JP" altLang="en-US" dirty="0"/>
              <a:t>何がいい？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421CC581-7AA0-7B51-695A-1DE40E8BCF4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kumimoji="1" lang="en-US" altLang="ja-JP" dirty="0"/>
              <a:t>‐</a:t>
            </a:r>
            <a:r>
              <a:rPr kumimoji="1" lang="ja-JP" altLang="en-US" dirty="0"/>
              <a:t>カローラクロス</a:t>
            </a:r>
            <a:r>
              <a:rPr kumimoji="1" lang="en-US" altLang="ja-JP" dirty="0"/>
              <a:t>×</a:t>
            </a:r>
            <a:r>
              <a:rPr kumimoji="1" lang="ja-JP" altLang="en-US" dirty="0"/>
              <a:t>プロボックス</a:t>
            </a:r>
            <a:r>
              <a:rPr kumimoji="1" lang="en-US" altLang="ja-JP" dirty="0"/>
              <a:t>‐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0541259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34094A8-82F3-16FB-1471-3F1C965339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そもそも買い替え時っていつなの？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03A57A1-3B64-6CDB-9F8D-38B2554891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ja-JP" altLang="en-US" dirty="0"/>
              <a:t>３</a:t>
            </a:r>
            <a:r>
              <a:rPr kumimoji="1" lang="ja-JP" altLang="en-US" dirty="0"/>
              <a:t>つの観点で判断可能</a:t>
            </a:r>
            <a:endParaRPr kumimoji="1" lang="en-US" altLang="ja-JP" dirty="0"/>
          </a:p>
          <a:p>
            <a:pPr marL="0" indent="0">
              <a:buNone/>
            </a:pPr>
            <a:endParaRPr lang="en-US" altLang="ja-JP" dirty="0"/>
          </a:p>
          <a:p>
            <a:pPr marL="0" indent="0">
              <a:buNone/>
            </a:pPr>
            <a:r>
              <a:rPr kumimoji="1" lang="ja-JP" altLang="en-US" dirty="0"/>
              <a:t>１ 年数走行距離</a:t>
            </a:r>
            <a:endParaRPr kumimoji="1" lang="en-US" altLang="ja-JP" dirty="0"/>
          </a:p>
          <a:p>
            <a:pPr marL="0" indent="0">
              <a:buNone/>
            </a:pPr>
            <a:endParaRPr lang="en-US" altLang="ja-JP" dirty="0"/>
          </a:p>
          <a:p>
            <a:pPr marL="0" indent="0">
              <a:buNone/>
            </a:pPr>
            <a:r>
              <a:rPr kumimoji="1" lang="ja-JP" altLang="en-US" dirty="0"/>
              <a:t>２ 時期・決算</a:t>
            </a:r>
            <a:endParaRPr kumimoji="1" lang="en-US" altLang="ja-JP" dirty="0"/>
          </a:p>
          <a:p>
            <a:pPr marL="0" indent="0">
              <a:buNone/>
            </a:pPr>
            <a:endParaRPr lang="en-US" altLang="ja-JP" dirty="0"/>
          </a:p>
          <a:p>
            <a:pPr marL="0" indent="0">
              <a:buNone/>
            </a:pPr>
            <a:r>
              <a:rPr kumimoji="1" lang="ja-JP" altLang="en-US" dirty="0"/>
              <a:t>３ 車の状態</a:t>
            </a:r>
          </a:p>
        </p:txBody>
      </p:sp>
    </p:spTree>
    <p:extLst>
      <p:ext uri="{BB962C8B-B14F-4D97-AF65-F5344CB8AC3E}">
        <p14:creationId xmlns:p14="http://schemas.microsoft.com/office/powerpoint/2010/main" val="16555076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1BF475E-FBEF-723E-DA04-18E8D6DE34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1</a:t>
            </a:r>
            <a:r>
              <a:rPr kumimoji="1" lang="ja-JP" altLang="en-US" dirty="0"/>
              <a:t> 年間・走行距離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9D0F504-46C1-11F1-F77D-39574F59CA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altLang="ja-JP" dirty="0"/>
              <a:t>3</a:t>
            </a:r>
            <a:r>
              <a:rPr kumimoji="1" lang="ja-JP" altLang="en-US" dirty="0"/>
              <a:t>年</a:t>
            </a:r>
            <a:r>
              <a:rPr kumimoji="1" lang="en-US" altLang="ja-JP" dirty="0"/>
              <a:t>(</a:t>
            </a:r>
            <a:r>
              <a:rPr kumimoji="1" lang="ja-JP" altLang="en-US" dirty="0"/>
              <a:t>初回車検</a:t>
            </a:r>
            <a:r>
              <a:rPr kumimoji="1" lang="en-US" altLang="ja-JP" dirty="0"/>
              <a:t>)</a:t>
            </a:r>
            <a:r>
              <a:rPr kumimoji="1" lang="ja-JP" altLang="en-US" dirty="0"/>
              <a:t>：保証期間内、高査定額期待大</a:t>
            </a:r>
            <a:endParaRPr kumimoji="1" lang="en-US" altLang="ja-JP" dirty="0"/>
          </a:p>
          <a:p>
            <a:pPr marL="0" indent="0">
              <a:buNone/>
            </a:pPr>
            <a:endParaRPr kumimoji="1" lang="en-US" altLang="ja-JP" dirty="0"/>
          </a:p>
          <a:p>
            <a:pPr marL="0" indent="0">
              <a:buNone/>
            </a:pPr>
            <a:r>
              <a:rPr lang="en-US" altLang="ja-JP" dirty="0"/>
              <a:t>5</a:t>
            </a:r>
            <a:r>
              <a:rPr lang="ja-JP" altLang="en-US" dirty="0"/>
              <a:t>年</a:t>
            </a:r>
            <a:r>
              <a:rPr lang="en-US" altLang="ja-JP" dirty="0"/>
              <a:t>(2</a:t>
            </a:r>
            <a:r>
              <a:rPr lang="ja-JP" altLang="en-US" dirty="0"/>
              <a:t>回目車検</a:t>
            </a:r>
            <a:r>
              <a:rPr lang="en-US" altLang="ja-JP" dirty="0"/>
              <a:t>)</a:t>
            </a:r>
            <a:r>
              <a:rPr lang="ja-JP" altLang="en-US" dirty="0"/>
              <a:t>：メーカー保証が切れる、維持費増</a:t>
            </a:r>
            <a:endParaRPr lang="en-US" altLang="ja-JP" dirty="0"/>
          </a:p>
          <a:p>
            <a:pPr marL="0" indent="0">
              <a:buNone/>
            </a:pPr>
            <a:endParaRPr lang="en-US" altLang="ja-JP" dirty="0"/>
          </a:p>
          <a:p>
            <a:pPr marL="0" indent="0">
              <a:buNone/>
            </a:pPr>
            <a:r>
              <a:rPr lang="en-US" altLang="ja-JP" dirty="0"/>
              <a:t>7</a:t>
            </a:r>
            <a:r>
              <a:rPr lang="ja-JP" altLang="en-US" dirty="0"/>
              <a:t>年</a:t>
            </a:r>
            <a:r>
              <a:rPr lang="en-US" altLang="ja-JP" dirty="0"/>
              <a:t>(3</a:t>
            </a:r>
            <a:r>
              <a:rPr lang="ja-JP" altLang="en-US" dirty="0"/>
              <a:t>回目車検</a:t>
            </a:r>
            <a:r>
              <a:rPr lang="en-US" altLang="ja-JP" dirty="0"/>
              <a:t>)</a:t>
            </a:r>
            <a:r>
              <a:rPr lang="ja-JP" altLang="en-US" dirty="0"/>
              <a:t>：部品交換増</a:t>
            </a:r>
            <a:endParaRPr lang="en-US" altLang="ja-JP" dirty="0"/>
          </a:p>
          <a:p>
            <a:pPr marL="0" indent="0">
              <a:buNone/>
            </a:pPr>
            <a:endParaRPr lang="en-US" altLang="ja-JP" dirty="0"/>
          </a:p>
          <a:p>
            <a:pPr marL="0" indent="0">
              <a:buNone/>
            </a:pPr>
            <a:r>
              <a:rPr lang="en-US" altLang="ja-JP" dirty="0"/>
              <a:t>10</a:t>
            </a:r>
            <a:r>
              <a:rPr lang="ja-JP" altLang="en-US" dirty="0"/>
              <a:t>年</a:t>
            </a:r>
            <a:r>
              <a:rPr lang="en-US" altLang="ja-JP" dirty="0"/>
              <a:t>(10</a:t>
            </a:r>
            <a:r>
              <a:rPr lang="ja-JP" altLang="en-US" dirty="0"/>
              <a:t>万</a:t>
            </a:r>
            <a:r>
              <a:rPr lang="en-US" altLang="ja-JP" dirty="0"/>
              <a:t>km)</a:t>
            </a:r>
            <a:r>
              <a:rPr lang="ja-JP" altLang="en-US" dirty="0"/>
              <a:t>：一般的な寿命目安、修理費急増リスク</a:t>
            </a:r>
            <a:endParaRPr lang="en-US" altLang="ja-JP" dirty="0"/>
          </a:p>
          <a:p>
            <a:pPr marL="0" indent="0">
              <a:buNone/>
            </a:pPr>
            <a:endParaRPr lang="en-US" altLang="ja-JP" dirty="0"/>
          </a:p>
          <a:p>
            <a:pPr marL="0" indent="0">
              <a:buNone/>
            </a:pPr>
            <a:r>
              <a:rPr lang="en-US" altLang="ja-JP" dirty="0"/>
              <a:t>13</a:t>
            </a:r>
            <a:r>
              <a:rPr lang="ja-JP" altLang="en-US" dirty="0"/>
              <a:t>年：自動車税・重量税</a:t>
            </a:r>
            <a:r>
              <a:rPr lang="en-US" altLang="ja-JP" dirty="0"/>
              <a:t>(15-20</a:t>
            </a:r>
            <a:r>
              <a:rPr lang="ja-JP" altLang="en-US" dirty="0"/>
              <a:t>％</a:t>
            </a:r>
            <a:r>
              <a:rPr lang="en-US" altLang="ja-JP" dirty="0"/>
              <a:t>)</a:t>
            </a:r>
            <a:r>
              <a:rPr lang="ja-JP" altLang="en-US" dirty="0"/>
              <a:t>増</a:t>
            </a:r>
            <a:endParaRPr lang="en-US" altLang="ja-JP" dirty="0"/>
          </a:p>
          <a:p>
            <a:pPr marL="0" indent="0">
              <a:buNone/>
            </a:pPr>
            <a:endParaRPr kumimoji="1" lang="en-US" altLang="ja-JP" dirty="0"/>
          </a:p>
          <a:p>
            <a:pPr marL="0" indent="0">
              <a:buNone/>
            </a:pP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4922776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37BD546-02D6-8E85-A7CA-B8335E8435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2</a:t>
            </a:r>
            <a:r>
              <a:rPr kumimoji="1" lang="ja-JP" altLang="en-US" dirty="0"/>
              <a:t> 時期・決算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ADE43CD-54FD-EA35-2844-2E4DBDEC2E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kumimoji="1" lang="en-US" altLang="ja-JP" dirty="0"/>
              <a:t>2-3</a:t>
            </a:r>
            <a:r>
              <a:rPr kumimoji="1" lang="ja-JP" altLang="en-US" dirty="0"/>
              <a:t>月</a:t>
            </a:r>
            <a:r>
              <a:rPr kumimoji="1" lang="en-US" altLang="ja-JP" dirty="0"/>
              <a:t>(</a:t>
            </a:r>
            <a:r>
              <a:rPr kumimoji="1" lang="ja-JP" altLang="en-US" dirty="0"/>
              <a:t>年度末決算</a:t>
            </a:r>
            <a:r>
              <a:rPr kumimoji="1" lang="en-US" altLang="ja-JP" dirty="0"/>
              <a:t>)</a:t>
            </a:r>
            <a:r>
              <a:rPr kumimoji="1" lang="ja-JP" altLang="en-US" dirty="0"/>
              <a:t>：買取価格増、新車キャンペーン増</a:t>
            </a:r>
            <a:endParaRPr kumimoji="1" lang="en-US" altLang="ja-JP" dirty="0"/>
          </a:p>
          <a:p>
            <a:pPr marL="0" indent="0">
              <a:buNone/>
            </a:pPr>
            <a:endParaRPr lang="en-US" altLang="ja-JP" dirty="0"/>
          </a:p>
          <a:p>
            <a:pPr marL="0" indent="0">
              <a:buNone/>
            </a:pPr>
            <a:r>
              <a:rPr kumimoji="1" lang="en-US" altLang="ja-JP" dirty="0"/>
              <a:t>9</a:t>
            </a:r>
            <a:r>
              <a:rPr kumimoji="1" lang="ja-JP" altLang="en-US" dirty="0"/>
              <a:t>月</a:t>
            </a:r>
            <a:r>
              <a:rPr kumimoji="1" lang="en-US" altLang="ja-JP" dirty="0"/>
              <a:t>(</a:t>
            </a:r>
            <a:r>
              <a:rPr kumimoji="1" lang="ja-JP" altLang="en-US" dirty="0"/>
              <a:t>中間決算</a:t>
            </a:r>
            <a:r>
              <a:rPr kumimoji="1" lang="en-US" altLang="ja-JP" dirty="0"/>
              <a:t>)</a:t>
            </a:r>
            <a:r>
              <a:rPr kumimoji="1" lang="ja-JP" altLang="en-US" dirty="0"/>
              <a:t>：年度末に次ぐお得時期</a:t>
            </a:r>
          </a:p>
        </p:txBody>
      </p:sp>
    </p:spTree>
    <p:extLst>
      <p:ext uri="{BB962C8B-B14F-4D97-AF65-F5344CB8AC3E}">
        <p14:creationId xmlns:p14="http://schemas.microsoft.com/office/powerpoint/2010/main" val="42283721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0BA25D4-5A80-392C-1125-E725A1D439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3</a:t>
            </a:r>
            <a:r>
              <a:rPr lang="ja-JP" altLang="en-US" dirty="0"/>
              <a:t> 車の状態</a:t>
            </a:r>
            <a:r>
              <a:rPr kumimoji="1" lang="ja-JP" altLang="en-US" dirty="0"/>
              <a:t> 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E898CF5A-D886-8CC6-D13E-E3BDF8A91E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kumimoji="1" lang="ja-JP" altLang="en-US" dirty="0"/>
              <a:t>故障修理代</a:t>
            </a:r>
            <a:r>
              <a:rPr kumimoji="1" lang="en-US" altLang="ja-JP" dirty="0"/>
              <a:t>(</a:t>
            </a:r>
            <a:r>
              <a:rPr kumimoji="1" lang="ja-JP" altLang="en-US" dirty="0"/>
              <a:t>高額</a:t>
            </a:r>
            <a:r>
              <a:rPr kumimoji="1" lang="en-US" altLang="ja-JP" dirty="0"/>
              <a:t>)</a:t>
            </a:r>
            <a:r>
              <a:rPr kumimoji="1" lang="ja-JP" altLang="en-US" dirty="0"/>
              <a:t>：修理代が査定額を上回るとき</a:t>
            </a:r>
            <a:endParaRPr kumimoji="1" lang="en-US" altLang="ja-JP" dirty="0"/>
          </a:p>
          <a:p>
            <a:pPr marL="0" indent="0">
              <a:buNone/>
            </a:pPr>
            <a:endParaRPr lang="en-US" altLang="ja-JP" dirty="0"/>
          </a:p>
          <a:p>
            <a:pPr marL="0" indent="0">
              <a:buNone/>
            </a:pPr>
            <a:r>
              <a:rPr kumimoji="1" lang="ja-JP" altLang="en-US" dirty="0"/>
              <a:t>燃費の悪化・故障の予兆：加速が鈍い、異音がするなど</a:t>
            </a:r>
            <a:endParaRPr kumimoji="1" lang="en-US" altLang="ja-JP" dirty="0"/>
          </a:p>
          <a:p>
            <a:pPr marL="0" indent="0">
              <a:buNone/>
            </a:pPr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19790310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C8DE834-7883-ABBB-EB55-5C26CA1BB3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本題：カローラクロス</a:t>
            </a:r>
            <a:r>
              <a:rPr kumimoji="1" lang="en-US" altLang="ja-JP" dirty="0"/>
              <a:t>vs</a:t>
            </a:r>
            <a:r>
              <a:rPr kumimoji="1" lang="ja-JP" altLang="en-US" dirty="0"/>
              <a:t>プロボックス</a:t>
            </a:r>
          </a:p>
        </p:txBody>
      </p:sp>
      <p:graphicFrame>
        <p:nvGraphicFramePr>
          <p:cNvPr id="4" name="コンテンツ プレースホルダー 3">
            <a:extLst>
              <a:ext uri="{FF2B5EF4-FFF2-40B4-BE49-F238E27FC236}">
                <a16:creationId xmlns:a16="http://schemas.microsoft.com/office/drawing/2014/main" id="{A5D8E4B1-CB00-8C41-243E-F4003C6D871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25327418"/>
              </p:ext>
            </p:extLst>
          </p:nvPr>
        </p:nvGraphicFramePr>
        <p:xfrm>
          <a:off x="1057523" y="1987826"/>
          <a:ext cx="10058398" cy="434936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932117">
                  <a:extLst>
                    <a:ext uri="{9D8B030D-6E8A-4147-A177-3AD203B41FA5}">
                      <a16:colId xmlns:a16="http://schemas.microsoft.com/office/drawing/2014/main" val="3943773656"/>
                    </a:ext>
                  </a:extLst>
                </a:gridCol>
                <a:gridCol w="2672101">
                  <a:extLst>
                    <a:ext uri="{9D8B030D-6E8A-4147-A177-3AD203B41FA5}">
                      <a16:colId xmlns:a16="http://schemas.microsoft.com/office/drawing/2014/main" val="1464032049"/>
                    </a:ext>
                  </a:extLst>
                </a:gridCol>
                <a:gridCol w="3454180">
                  <a:extLst>
                    <a:ext uri="{9D8B030D-6E8A-4147-A177-3AD203B41FA5}">
                      <a16:colId xmlns:a16="http://schemas.microsoft.com/office/drawing/2014/main" val="2507537164"/>
                    </a:ext>
                  </a:extLst>
                </a:gridCol>
              </a:tblGrid>
              <a:tr h="86987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ja-JP" altLang="en-US" sz="1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altLang="en-US" sz="1100" u="none" strike="noStrike">
                          <a:effectLst/>
                        </a:rPr>
                        <a:t>プロボックス</a:t>
                      </a:r>
                      <a:r>
                        <a:rPr lang="en-US" altLang="ja-JP" sz="1100" u="none" strike="noStrike">
                          <a:effectLst/>
                        </a:rPr>
                        <a:t>F(HV)</a:t>
                      </a:r>
                      <a:endParaRPr lang="en-US" altLang="ja-JP" sz="1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altLang="en-US" sz="1100" u="none" strike="noStrike">
                          <a:effectLst/>
                        </a:rPr>
                        <a:t>カローラクロス</a:t>
                      </a:r>
                      <a:r>
                        <a:rPr lang="en-US" altLang="ja-JP" sz="1100" u="none" strike="noStrike">
                          <a:effectLst/>
                        </a:rPr>
                        <a:t>Z(2WD/HV)</a:t>
                      </a:r>
                      <a:endParaRPr lang="en-US" altLang="ja-JP" sz="1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107303571"/>
                  </a:ext>
                </a:extLst>
              </a:tr>
              <a:tr h="86987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altLang="en-US" sz="1100" u="none" strike="noStrike">
                          <a:effectLst/>
                        </a:rPr>
                        <a:t>車両価格</a:t>
                      </a:r>
                      <a:endParaRPr lang="ja-JP" altLang="en-US" sz="1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altLang="en-US" sz="1100" u="none" strike="noStrike" dirty="0">
                          <a:effectLst/>
                        </a:rPr>
                        <a:t>￥</a:t>
                      </a:r>
                      <a:r>
                        <a:rPr lang="en-US" altLang="ja-JP" sz="1100" u="none" strike="noStrike" dirty="0">
                          <a:effectLst/>
                        </a:rPr>
                        <a:t>2,261,600</a:t>
                      </a:r>
                      <a:endParaRPr lang="en-US" altLang="ja-JP" sz="11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altLang="en-US" sz="1100" u="none" strike="noStrike" dirty="0">
                          <a:effectLst/>
                        </a:rPr>
                        <a:t>￥</a:t>
                      </a:r>
                      <a:r>
                        <a:rPr lang="en-US" altLang="ja-JP" sz="1100" u="none" strike="noStrike" dirty="0">
                          <a:effectLst/>
                        </a:rPr>
                        <a:t>3,430,000</a:t>
                      </a:r>
                      <a:endParaRPr lang="en-US" altLang="ja-JP" sz="11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656030362"/>
                  </a:ext>
                </a:extLst>
              </a:tr>
              <a:tr h="86987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WLTC</a:t>
                      </a:r>
                      <a:r>
                        <a:rPr lang="ja-JP" altLang="en-US" sz="1100" u="none" strike="noStrike">
                          <a:effectLst/>
                        </a:rPr>
                        <a:t>燃費</a:t>
                      </a:r>
                      <a:endParaRPr lang="ja-JP" altLang="en-US" sz="1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24.2km/L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26.4km/L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980936936"/>
                  </a:ext>
                </a:extLst>
              </a:tr>
              <a:tr h="86987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altLang="en-US" sz="1100" u="none" strike="noStrike">
                          <a:effectLst/>
                        </a:rPr>
                        <a:t>安全装備</a:t>
                      </a:r>
                      <a:endParaRPr lang="ja-JP" altLang="en-US" sz="1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altLang="en-US" sz="1100" u="none" strike="noStrike">
                          <a:effectLst/>
                        </a:rPr>
                        <a:t>標準機能</a:t>
                      </a:r>
                      <a:endParaRPr lang="ja-JP" altLang="en-US" sz="1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altLang="en-US" sz="1100" u="none" strike="noStrike">
                          <a:effectLst/>
                        </a:rPr>
                        <a:t>最新機能</a:t>
                      </a:r>
                      <a:endParaRPr lang="ja-JP" altLang="en-US" sz="1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631280459"/>
                  </a:ext>
                </a:extLst>
              </a:tr>
              <a:tr h="86987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altLang="en-US" sz="1100" u="none" strike="noStrike">
                          <a:effectLst/>
                        </a:rPr>
                        <a:t>用途</a:t>
                      </a:r>
                      <a:endParaRPr lang="ja-JP" altLang="en-US" sz="1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altLang="en-US" sz="1100" u="none" strike="noStrike">
                          <a:effectLst/>
                        </a:rPr>
                        <a:t>運搬</a:t>
                      </a:r>
                      <a:endParaRPr lang="ja-JP" altLang="en-US" sz="1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altLang="en-US" sz="1100" u="none" strike="noStrike" dirty="0">
                          <a:effectLst/>
                        </a:rPr>
                        <a:t>接待・運搬</a:t>
                      </a:r>
                      <a:endParaRPr lang="ja-JP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2448736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150316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32B1570-088B-3936-6B1D-62D1E3EB1C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積載量と実用性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D95E2A4-D7FE-E2DE-CB6C-ED151761AF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kumimoji="1" lang="ja-JP" altLang="en-US" dirty="0"/>
              <a:t>「プロボックスに劣らない」圧倒的な収納力</a:t>
            </a:r>
            <a:endParaRPr kumimoji="1" lang="en-US" altLang="ja-JP" dirty="0"/>
          </a:p>
          <a:p>
            <a:pPr marL="0" indent="0">
              <a:buNone/>
            </a:pPr>
            <a:r>
              <a:rPr kumimoji="1" lang="ja-JP" altLang="en-US" dirty="0"/>
              <a:t>ゴルフバック</a:t>
            </a:r>
            <a:r>
              <a:rPr kumimoji="1" lang="en-US" altLang="ja-JP" dirty="0"/>
              <a:t>4</a:t>
            </a:r>
            <a:r>
              <a:rPr kumimoji="1" lang="ja-JP" altLang="en-US" dirty="0"/>
              <a:t>個もを積載可能</a:t>
            </a:r>
            <a:endParaRPr kumimoji="1" lang="en-US" altLang="ja-JP" dirty="0"/>
          </a:p>
          <a:p>
            <a:pPr marL="0" indent="0">
              <a:buNone/>
            </a:pPr>
            <a:r>
              <a:rPr kumimoji="1" lang="ja-JP" altLang="en-US" dirty="0"/>
              <a:t>⇒</a:t>
            </a:r>
            <a:r>
              <a:rPr kumimoji="1" lang="en-US" altLang="ja-JP" dirty="0"/>
              <a:t>5</a:t>
            </a:r>
            <a:r>
              <a:rPr kumimoji="1" lang="ja-JP" altLang="en-US" dirty="0"/>
              <a:t>名乗車時でも</a:t>
            </a:r>
            <a:r>
              <a:rPr kumimoji="1" lang="en-US" altLang="ja-JP" dirty="0"/>
              <a:t>487L</a:t>
            </a:r>
            <a:r>
              <a:rPr kumimoji="1" lang="ja-JP" altLang="en-US" dirty="0"/>
              <a:t>の大容量を確保。接待ゴルフにも一台で対応可能</a:t>
            </a:r>
            <a:endParaRPr kumimoji="1" lang="en-US" altLang="ja-JP" dirty="0"/>
          </a:p>
          <a:p>
            <a:pPr marL="0" indent="0">
              <a:buNone/>
            </a:pPr>
            <a:r>
              <a:rPr lang="ja-JP" altLang="en-US" dirty="0"/>
              <a:t>低床設計：荷室の地上高は低く、重い荷物の運搬・積み下ろしがスムーズ</a:t>
            </a:r>
            <a:endParaRPr lang="en-US" altLang="ja-JP" dirty="0"/>
          </a:p>
          <a:p>
            <a:pPr marL="0" indent="0">
              <a:buNone/>
            </a:pPr>
            <a:r>
              <a:rPr lang="ja-JP" altLang="en-US" dirty="0"/>
              <a:t>シートアレンジ：</a:t>
            </a:r>
            <a:r>
              <a:rPr lang="en-US" altLang="ja-JP" dirty="0"/>
              <a:t>6:4</a:t>
            </a:r>
            <a:r>
              <a:rPr lang="ja-JP" altLang="en-US" dirty="0"/>
              <a:t>分割化倒式により、長尺物の運搬と鉱石乗車を両立</a:t>
            </a:r>
            <a:endParaRPr lang="en-US" altLang="ja-JP" dirty="0"/>
          </a:p>
          <a:p>
            <a:pPr marL="0" indent="0">
              <a:buNone/>
            </a:pPr>
            <a:r>
              <a:rPr lang="ja-JP" altLang="en-US" dirty="0"/>
              <a:t>ビジネスを止まらない：コンセント</a:t>
            </a:r>
            <a:r>
              <a:rPr lang="en-US" altLang="ja-JP" dirty="0"/>
              <a:t>(AC100V</a:t>
            </a:r>
            <a:r>
              <a:rPr lang="ja-JP" altLang="en-US" dirty="0"/>
              <a:t>・</a:t>
            </a:r>
            <a:r>
              <a:rPr lang="en-US" altLang="ja-JP" dirty="0"/>
              <a:t>1500W)</a:t>
            </a:r>
            <a:r>
              <a:rPr lang="ja-JP" altLang="en-US" dirty="0"/>
              <a:t>を装備。災害時や出先での</a:t>
            </a:r>
            <a:r>
              <a:rPr lang="en-US" altLang="ja-JP" dirty="0"/>
              <a:t>PC</a:t>
            </a:r>
            <a:r>
              <a:rPr lang="ja-JP" altLang="en-US" dirty="0"/>
              <a:t>給電が可能</a:t>
            </a:r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36727192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2E35FB7-376E-2A5B-DC36-C2EFED0365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顧客満足度と対外イメージ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99F656B-C618-FC09-13E5-E206165AB8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kumimoji="1" lang="ja-JP" altLang="en-US" dirty="0"/>
              <a:t>顧客送迎時のホスピタリティ：プロボックスは「作業者」のイメージが強いため窮屈な思いをさせる懸念</a:t>
            </a:r>
            <a:endParaRPr kumimoji="1" lang="en-US" altLang="ja-JP" dirty="0"/>
          </a:p>
          <a:p>
            <a:pPr marL="0" indent="0">
              <a:buNone/>
            </a:pPr>
            <a:endParaRPr lang="en-US" altLang="ja-JP" dirty="0"/>
          </a:p>
          <a:p>
            <a:pPr marL="0" indent="0">
              <a:buNone/>
            </a:pPr>
            <a:r>
              <a:rPr lang="ja-JP" altLang="en-US" dirty="0"/>
              <a:t>静粛性：</a:t>
            </a:r>
            <a:r>
              <a:rPr lang="en-US" altLang="ja-JP" dirty="0"/>
              <a:t>SUV</a:t>
            </a:r>
            <a:r>
              <a:rPr lang="ja-JP" altLang="en-US" dirty="0"/>
              <a:t>特有のアイポイントの高さと静粛性、移動中の商談がよりスムーズ</a:t>
            </a:r>
            <a:endParaRPr lang="en-US" altLang="ja-JP" dirty="0"/>
          </a:p>
          <a:p>
            <a:pPr marL="0" indent="0">
              <a:buNone/>
            </a:pPr>
            <a:endParaRPr kumimoji="1" lang="en-US" altLang="ja-JP" dirty="0"/>
          </a:p>
          <a:p>
            <a:pPr marL="0" indent="0">
              <a:buNone/>
            </a:pPr>
            <a:r>
              <a:rPr lang="ja-JP" altLang="en-US" dirty="0"/>
              <a:t>ブランディング：「古き良き」⇒「先進的・持続可能</a:t>
            </a:r>
            <a:r>
              <a:rPr lang="en-US" altLang="ja-JP" dirty="0"/>
              <a:t>(SDGs)</a:t>
            </a:r>
            <a:r>
              <a:rPr lang="ja-JP" altLang="en-US" dirty="0"/>
              <a:t>」な企業姿勢へ</a:t>
            </a:r>
            <a:endParaRPr lang="en-US" altLang="ja-JP" dirty="0"/>
          </a:p>
          <a:p>
            <a:pPr marL="0" indent="0">
              <a:buNone/>
            </a:pP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844760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703A225-1BF5-17F5-13D4-EA5BE3A0F0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トータルコスト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8334F6A-DA93-E64B-49A9-BAF9B3FCB6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kumimoji="1" lang="ja-JP" altLang="en-US" dirty="0"/>
              <a:t>リセールバリュー：</a:t>
            </a:r>
            <a:r>
              <a:rPr kumimoji="1" lang="en-US" altLang="ja-JP" dirty="0"/>
              <a:t>SUV</a:t>
            </a:r>
            <a:r>
              <a:rPr kumimoji="1" lang="ja-JP" altLang="en-US" dirty="0"/>
              <a:t>市場の需要は非常に高く、数年後の売却価格はプロボックスを軽く上回る。</a:t>
            </a:r>
            <a:endParaRPr kumimoji="1" lang="en-US" altLang="ja-JP" dirty="0"/>
          </a:p>
          <a:p>
            <a:pPr marL="0" indent="0">
              <a:buNone/>
            </a:pPr>
            <a:endParaRPr lang="en-US" altLang="ja-JP" dirty="0"/>
          </a:p>
          <a:p>
            <a:pPr marL="0" indent="0">
              <a:buNone/>
            </a:pPr>
            <a:r>
              <a:rPr kumimoji="1" lang="ja-JP" altLang="en-US" dirty="0"/>
              <a:t>事故リスク：最新の予防パッケージにより、社員の安全、事故による損失を最小化</a:t>
            </a:r>
            <a:endParaRPr kumimoji="1" lang="en-US" altLang="ja-JP" dirty="0"/>
          </a:p>
          <a:p>
            <a:pPr marL="0" indent="0">
              <a:buNone/>
            </a:pPr>
            <a:endParaRPr lang="en-US" altLang="ja-JP" dirty="0"/>
          </a:p>
          <a:p>
            <a:pPr marL="0" indent="0">
              <a:buNone/>
            </a:pPr>
            <a:r>
              <a:rPr kumimoji="1" lang="ja-JP" altLang="en-US" dirty="0"/>
              <a:t>採用への影響：「かっこいい車」は若手社員のモチベーション、採用力に直結。</a:t>
            </a:r>
          </a:p>
        </p:txBody>
      </p:sp>
    </p:spTree>
    <p:extLst>
      <p:ext uri="{BB962C8B-B14F-4D97-AF65-F5344CB8AC3E}">
        <p14:creationId xmlns:p14="http://schemas.microsoft.com/office/powerpoint/2010/main" val="34565927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B04BB70-13DE-531D-CFE1-565719ACA0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３つの結論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37F9F1C0-193D-D674-41A6-766313870D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kumimoji="1" lang="ja-JP" altLang="en-US" dirty="0"/>
              <a:t>１ 経済性：クラストップ</a:t>
            </a:r>
            <a:r>
              <a:rPr lang="ja-JP" altLang="en-US" dirty="0"/>
              <a:t>クラスの燃費と高い残価設定</a:t>
            </a:r>
            <a:endParaRPr lang="en-US" altLang="ja-JP" dirty="0"/>
          </a:p>
          <a:p>
            <a:pPr marL="0" indent="0">
              <a:buNone/>
            </a:pPr>
            <a:endParaRPr lang="en-US" altLang="ja-JP" dirty="0"/>
          </a:p>
          <a:p>
            <a:pPr marL="0" indent="0">
              <a:buNone/>
            </a:pPr>
            <a:r>
              <a:rPr lang="ja-JP" altLang="en-US" dirty="0"/>
              <a:t>２ 機動力：現場から接待まで、一台で完結</a:t>
            </a:r>
            <a:endParaRPr lang="en-US" altLang="ja-JP" dirty="0"/>
          </a:p>
          <a:p>
            <a:pPr marL="0" indent="0">
              <a:buNone/>
            </a:pPr>
            <a:endParaRPr lang="en-US" altLang="ja-JP" dirty="0"/>
          </a:p>
          <a:p>
            <a:pPr marL="0" indent="0">
              <a:buNone/>
            </a:pPr>
            <a:r>
              <a:rPr lang="ja-JP" altLang="en-US" dirty="0"/>
              <a:t>３ 安全性：最新デバイスにより事故ゼロへの投資。</a:t>
            </a:r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35226616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F85810B-E32E-B91C-9741-C019B49CB1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最後に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B9FA2BF-4FB7-6640-5C41-4AA0769675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kumimoji="1" lang="ja-JP" altLang="en-US" dirty="0"/>
              <a:t>プロボックスは「社用車」という位置づけをかなり明確に示している「名車」であることは確か。ですが</a:t>
            </a:r>
            <a:r>
              <a:rPr lang="ja-JP" altLang="en-US" dirty="0"/>
              <a:t>、今は「効率」よりも「企業の信頼」を車で語る時代。カローラクロスであれば、燃費でランニングコストを抑えつつ、お客様には大切に扱われているという満足感まで提供できる。また売却益まで考えれば、実質的なコストは極僅か。社員の安全とモチベーションの投資にも活用できる投資。</a:t>
            </a:r>
            <a:endParaRPr lang="en-US" altLang="ja-JP" dirty="0"/>
          </a:p>
          <a:p>
            <a:pPr marL="0" indent="0">
              <a:buNone/>
            </a:pPr>
            <a:r>
              <a:rPr lang="ja-JP" altLang="en-US" dirty="0"/>
              <a:t>デメリットよりメリットが上回るいい投資です。</a:t>
            </a:r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21424088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571</Words>
  <Application>Microsoft Office PowerPoint</Application>
  <PresentationFormat>ワイド画面</PresentationFormat>
  <Paragraphs>71</Paragraphs>
  <Slides>11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11</vt:i4>
      </vt:variant>
    </vt:vector>
  </HeadingPairs>
  <TitlesOfParts>
    <vt:vector size="15" baseType="lpstr">
      <vt:lpstr>游ゴシック</vt:lpstr>
      <vt:lpstr>游ゴシック Light</vt:lpstr>
      <vt:lpstr>Arial</vt:lpstr>
      <vt:lpstr>Office テーマ</vt:lpstr>
      <vt:lpstr>社用車 何がいい？</vt:lpstr>
      <vt:lpstr>そもそも買い替え時っていつなの？</vt:lpstr>
      <vt:lpstr>1 年間・走行距離</vt:lpstr>
      <vt:lpstr>2 時期・決算</vt:lpstr>
      <vt:lpstr>3 車の状態 </vt:lpstr>
      <vt:lpstr>本題：カローラクロスvsプロボックス</vt:lpstr>
      <vt:lpstr>積載量と実用性</vt:lpstr>
      <vt:lpstr>顧客満足度と対外イメージ</vt:lpstr>
      <vt:lpstr>トータルコスト</vt:lpstr>
      <vt:lpstr>３つの結論</vt:lpstr>
      <vt:lpstr>最後に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名古屋・貝塚</dc:creator>
  <cp:lastModifiedBy>名古屋・貝塚</cp:lastModifiedBy>
  <cp:revision>2</cp:revision>
  <dcterms:created xsi:type="dcterms:W3CDTF">2026-03-12T02:00:56Z</dcterms:created>
  <dcterms:modified xsi:type="dcterms:W3CDTF">2026-03-17T00:09:37Z</dcterms:modified>
</cp:coreProperties>
</file>