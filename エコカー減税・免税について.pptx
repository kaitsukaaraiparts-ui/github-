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3" r:id="rId4"/>
    <p:sldId id="265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F23DCD-4DF9-27F2-752F-6DBEC98C7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1C2132C-48F0-DF54-BAD6-149143626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348D1A-3291-D7AC-0A0E-2CC5683CC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7FCC-1456-4C21-980E-166557B6D98D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4CDD74-850F-4F46-99E3-05FD135E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6F3C8E-164A-AD71-5596-34246169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FE5E-FA8B-4CD2-A1D2-6FD0357EB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423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B9A9BE-3281-B2AB-449B-6CE3ACCB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9C6BE2-0DDC-6553-F85F-E06DEDF95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DF9FD3-7116-960F-4D8E-BDE01D5A1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7FCC-1456-4C21-980E-166557B6D98D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E80664-166C-922B-2CC5-9EC2B22E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0CCD99-6A49-DB1C-55C3-24B360CE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FE5E-FA8B-4CD2-A1D2-6FD0357EB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914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0940-32C7-2C98-DA1A-7A79DFD80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A8D6F8-A079-5F14-212B-8E7EB272E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DB30FF-C1D6-7E26-9968-2876A9D1C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7FCC-1456-4C21-980E-166557B6D98D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A91A03-8B18-407C-88FE-B2D9DDAEC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74D3D4-5A46-B346-6B77-46F3C302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FE5E-FA8B-4CD2-A1D2-6FD0357EB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790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78B86D-EB9E-B423-743C-CBDE9305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3F86D5-DA3B-99D2-94A0-94918629DF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3421C0F-46D1-5F90-3437-6586DC4D5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A908FC-C5D7-2FB5-4F8C-F28C277D0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7FCC-1456-4C21-980E-166557B6D98D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8717D7-8F35-BBC0-ADA7-FF0A31EF4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95D19A-D671-FAEF-CFED-6424F480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FE5E-FA8B-4CD2-A1D2-6FD0357EB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974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0480A8-434B-7AC5-BBC2-8E695050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B0CEE8-616B-C25A-E97A-52B6632A4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1B017A-E68A-700D-E4FB-780F7973D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B7E9058-D19A-6962-5B34-90CF2EF2C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416020F-1397-CD00-C972-2BB792B76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323290B-FE64-0EAB-9987-6CE9D5717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7FCC-1456-4C21-980E-166557B6D98D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9DBC38F-00A2-0650-64C2-CCBC80641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19E1452-E1A9-6D3D-F8F3-77D5F17A4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FE5E-FA8B-4CD2-A1D2-6FD0357EB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848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57AD4-1A75-E58D-FFA8-6BF7EC6F1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6D5D3E3-9A79-2B90-5A7F-8F28B9092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7FCC-1456-4C21-980E-166557B6D98D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E4B3B8E-AB74-2BF3-5FCD-71CE6971D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90DEF99-7861-B8EA-F3BD-DB170088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FE5E-FA8B-4CD2-A1D2-6FD0357EB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6759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99D74BB-F1D1-0F50-0D74-14DD162E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7FCC-1456-4C21-980E-166557B6D98D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AA40F77-73C3-D28A-2F5A-FC146E55F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C0F1BE-79D9-0141-9BB1-90B6B794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FE5E-FA8B-4CD2-A1D2-6FD0357EB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1007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EE276-CE2F-3CC2-754C-DBBE58ADE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22551E-2422-BDD8-73D6-977C02844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4827854-91CB-8163-3412-EB8F75B8C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CC2A23-FE5C-5D2C-E7C6-CE927777E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7FCC-1456-4C21-980E-166557B6D98D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DB9D99-6E5D-1319-9ACF-441D92C74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DEA1BA-12B2-D91A-753B-2D782CD3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FE5E-FA8B-4CD2-A1D2-6FD0357EB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3298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E1DCB3-D287-DC83-CECC-13411A183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5FC9C5F-C1E5-29E9-D7C4-FCCD2F6600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C88FEDF-408E-5303-1A78-BCA33CB17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DDD100-F20E-FEA8-6714-7FA1994E3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7FCC-1456-4C21-980E-166557B6D98D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933730-B3F6-8836-7233-9D6F01EB1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1B661E-DE79-B0F5-D175-00A994A9D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FE5E-FA8B-4CD2-A1D2-6FD0357EB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2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2F1517-E5B1-B609-E17A-6CE4AD36D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535A8A-E2AA-BB3E-4B6D-D966A3219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C731B1-F0FE-0F65-9B14-9A2DCE910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7FCC-1456-4C21-980E-166557B6D98D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E72BBB-0C09-2C51-760F-1DEB8C3BA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419E95-31C4-187C-74DB-2F852AEF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FE5E-FA8B-4CD2-A1D2-6FD0357EB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633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F9FBD95-38CD-F106-A001-8B120210A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73506B-DB36-81FD-83FE-5B0649AB8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5EC230-440D-74AF-4FA9-55C282800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7FCC-1456-4C21-980E-166557B6D98D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D3E6E1-59B1-6DAA-22E0-DAD0BA7F6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30001B-FC24-0C84-4EC6-AF3EE9095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FE5E-FA8B-4CD2-A1D2-6FD0357EB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1243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5E75B52-BA30-5584-5F6C-0739129FA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791CD8-45CD-3719-8C71-6BA811E8B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4A649A-D557-3789-287B-5B0E69848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FE7FCC-1456-4C21-980E-166557B6D98D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8ACEC0-310B-9CEF-3FB1-039710AF3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0BFCD6-90F3-4FB6-3334-3DFBB3F57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7FE5E-FA8B-4CD2-A1D2-6FD0357EB5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4028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s-ins.com/labo/higoro/article/104.html#anc-01&#65288;&#26368;&#32066;&#38322;&#35239;&#26085;2026.03.09" TargetMode="External"/><Relationship Id="rId2" Type="http://schemas.openxmlformats.org/officeDocument/2006/relationships/hyperlink" Target="https://www.ms-ins.com/labo/higoro/article/104.html#anc-0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1DABC7-A8A6-2F9D-AF39-5FBBE511A8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dirty="0"/>
              <a:t>エコカー減税・免税について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30E0C8-1A83-7487-0DFB-E6769D9748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35336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A89F06-85D5-1CB2-C244-54FCE211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エコカー減税・免税とは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C0BAF9-40AB-3969-BD74-83EFC1D73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9575"/>
            <a:ext cx="10515600" cy="32607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ja-JP" altLang="en-US" dirty="0"/>
              <a:t>排出ガス性能および燃費性能が高い車に対する</a:t>
            </a:r>
            <a:endParaRPr lang="en-US" altLang="ja-JP" dirty="0"/>
          </a:p>
          <a:p>
            <a:pPr marL="0" indent="0" algn="ctr">
              <a:buNone/>
            </a:pPr>
            <a:r>
              <a:rPr kumimoji="1" lang="ja-JP" altLang="en-US" dirty="0"/>
              <a:t>税制優遇措置のこと。</a:t>
            </a:r>
          </a:p>
        </p:txBody>
      </p:sp>
    </p:spTree>
    <p:extLst>
      <p:ext uri="{BB962C8B-B14F-4D97-AF65-F5344CB8AC3E}">
        <p14:creationId xmlns:p14="http://schemas.microsoft.com/office/powerpoint/2010/main" val="255962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DC45DE-FB6B-3C4C-5518-ED8721A3C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エコカー減税と免税の差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DB9F09-8C44-3DA6-6C27-797649D01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2750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kumimoji="1" lang="ja-JP" altLang="en-US" dirty="0"/>
              <a:t>エコカー減税：</a:t>
            </a:r>
            <a:r>
              <a:rPr kumimoji="1" lang="en-US" altLang="ja-JP" dirty="0"/>
              <a:t>25</a:t>
            </a:r>
            <a:r>
              <a:rPr kumimoji="1" lang="ja-JP" altLang="en-US" dirty="0"/>
              <a:t>～</a:t>
            </a:r>
            <a:r>
              <a:rPr kumimoji="1" lang="en-US" altLang="ja-JP" dirty="0"/>
              <a:t>75</a:t>
            </a:r>
            <a:r>
              <a:rPr kumimoji="1" lang="ja-JP" altLang="en-US" dirty="0"/>
              <a:t>％の割引を指す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ja-JP" altLang="en-US" dirty="0"/>
              <a:t>エコカー免税：支払わなくてよい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61905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5A35EA-BA94-3E6E-46E3-25F65715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その対象は？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13F0D3-BCBC-F8C0-CD61-EBC994241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726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ja-JP" dirty="0"/>
              <a:t>1</a:t>
            </a:r>
            <a:r>
              <a:rPr lang="ja-JP" altLang="en-US" dirty="0"/>
              <a:t>，</a:t>
            </a:r>
            <a:r>
              <a:rPr kumimoji="1" lang="ja-JP" altLang="en-US" dirty="0"/>
              <a:t>電気自動車</a:t>
            </a:r>
            <a:r>
              <a:rPr kumimoji="1" lang="en-US" altLang="ja-JP" dirty="0"/>
              <a:t>(EV)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2</a:t>
            </a:r>
            <a:r>
              <a:rPr kumimoji="1" lang="ja-JP" altLang="en-US" dirty="0"/>
              <a:t>，燃料電池自動車</a:t>
            </a:r>
            <a:r>
              <a:rPr kumimoji="1" lang="en-US" altLang="ja-JP" dirty="0"/>
              <a:t>(FCV)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3</a:t>
            </a:r>
            <a:r>
              <a:rPr kumimoji="1" lang="ja-JP" altLang="en-US" dirty="0"/>
              <a:t>，天然ガス自動車</a:t>
            </a:r>
            <a:r>
              <a:rPr kumimoji="1" lang="en-US" altLang="ja-JP" dirty="0"/>
              <a:t>(NGV)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4</a:t>
            </a:r>
            <a:r>
              <a:rPr kumimoji="1" lang="ja-JP" altLang="en-US" dirty="0"/>
              <a:t>，ハイブリッド車</a:t>
            </a:r>
            <a:r>
              <a:rPr kumimoji="1" lang="en-US" altLang="ja-JP" dirty="0"/>
              <a:t>(HEV)</a:t>
            </a:r>
            <a:r>
              <a:rPr kumimoji="1" lang="ja-JP" altLang="en-US" dirty="0"/>
              <a:t>・</a:t>
            </a:r>
            <a:r>
              <a:rPr kumimoji="1" lang="en-US" altLang="ja-JP" dirty="0"/>
              <a:t>LPG</a:t>
            </a:r>
            <a:r>
              <a:rPr kumimoji="1" lang="ja-JP" altLang="en-US" dirty="0"/>
              <a:t>車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5</a:t>
            </a:r>
            <a:r>
              <a:rPr kumimoji="1" lang="ja-JP" altLang="en-US" dirty="0"/>
              <a:t>，プラグインハイブリッド車</a:t>
            </a:r>
            <a:r>
              <a:rPr kumimoji="1" lang="en-US" altLang="ja-JP" dirty="0"/>
              <a:t>(PHEV</a:t>
            </a:r>
            <a:r>
              <a:rPr kumimoji="1" lang="ja-JP" altLang="en-US" dirty="0"/>
              <a:t>車</a:t>
            </a:r>
            <a:r>
              <a:rPr kumimoji="1" lang="en-US" altLang="ja-JP" dirty="0"/>
              <a:t>)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6</a:t>
            </a:r>
            <a:r>
              <a:rPr kumimoji="1" lang="ja-JP" altLang="en-US" dirty="0"/>
              <a:t>，クリーンディーゼル車</a:t>
            </a:r>
            <a:r>
              <a:rPr kumimoji="1" lang="en-US" altLang="ja-JP" dirty="0"/>
              <a:t>(CDV)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70089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1F006E-408A-F1E4-C649-176F67B6A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その期間は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008E1F-8B90-20F9-9789-815A11214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kumimoji="1" lang="en-US" altLang="ja-JP" dirty="0"/>
              <a:t>~2026</a:t>
            </a:r>
            <a:r>
              <a:rPr kumimoji="1" lang="ja-JP" altLang="en-US" dirty="0"/>
              <a:t>年</a:t>
            </a:r>
            <a:r>
              <a:rPr kumimoji="1" lang="en-US" altLang="ja-JP" dirty="0"/>
              <a:t>4</a:t>
            </a:r>
            <a:r>
              <a:rPr kumimoji="1" lang="ja-JP" altLang="en-US" dirty="0"/>
              <a:t>月</a:t>
            </a:r>
            <a:r>
              <a:rPr kumimoji="1" lang="en-US" altLang="ja-JP" dirty="0"/>
              <a:t>30</a:t>
            </a:r>
            <a:r>
              <a:rPr kumimoji="1" lang="ja-JP" altLang="en-US" dirty="0"/>
              <a:t>日まで</a:t>
            </a:r>
            <a:endParaRPr kumimoji="1" lang="en-US" altLang="ja-JP" dirty="0"/>
          </a:p>
          <a:p>
            <a:pPr marL="0" indent="0" algn="ctr">
              <a:buNone/>
            </a:pPr>
            <a:endParaRPr lang="en-US" altLang="ja-JP" dirty="0"/>
          </a:p>
          <a:p>
            <a:pPr marL="0" indent="0" algn="ctr">
              <a:buNone/>
            </a:pPr>
            <a:r>
              <a:rPr lang="en-US" altLang="ja-JP" b="1" dirty="0"/>
              <a:t>EV</a:t>
            </a:r>
            <a:r>
              <a:rPr lang="ja-JP" altLang="en-US" b="1" dirty="0"/>
              <a:t>、</a:t>
            </a:r>
            <a:r>
              <a:rPr lang="en-US" altLang="ja-JP" b="1" dirty="0"/>
              <a:t>PHEV</a:t>
            </a:r>
            <a:r>
              <a:rPr lang="ja-JP" altLang="en-US" b="1" dirty="0"/>
              <a:t>、</a:t>
            </a:r>
            <a:r>
              <a:rPr lang="en-US" altLang="ja-JP" b="1" dirty="0"/>
              <a:t>FCV</a:t>
            </a:r>
            <a:r>
              <a:rPr lang="ja-JP" altLang="en-US" b="1" dirty="0"/>
              <a:t>、一部の</a:t>
            </a:r>
            <a:r>
              <a:rPr lang="en-US" altLang="ja-JP" b="1" dirty="0"/>
              <a:t>NGV</a:t>
            </a:r>
            <a:r>
              <a:rPr lang="ja-JP" altLang="en-US" dirty="0"/>
              <a:t>に関しては</a:t>
            </a: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期間中</a:t>
            </a:r>
            <a:r>
              <a:rPr kumimoji="1" lang="ja-JP" altLang="en-US" dirty="0"/>
              <a:t>に新規登録した場合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ja-JP" altLang="en-US" dirty="0"/>
              <a:t>初回車検分および</a:t>
            </a:r>
            <a:r>
              <a:rPr lang="en-US" altLang="ja-JP" dirty="0"/>
              <a:t>2</a:t>
            </a:r>
            <a:r>
              <a:rPr lang="ja-JP" altLang="en-US" dirty="0"/>
              <a:t>回目の車検分は</a:t>
            </a: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自動車重量税が免税される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23575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D254E8-FB79-80DB-7559-8AA65233C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0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000" dirty="0">
                <a:ea typeface="HGP教科書体" panose="02020600000000000000" pitchFamily="18" charset="-128"/>
              </a:rPr>
              <a:t>ガソリン車や・</a:t>
            </a:r>
            <a:r>
              <a:rPr lang="en-US" altLang="ja-JP" sz="4000" dirty="0">
                <a:ea typeface="HGP教科書体" panose="02020600000000000000" pitchFamily="18" charset="-128"/>
              </a:rPr>
              <a:t>LPG</a:t>
            </a:r>
            <a:r>
              <a:rPr lang="ja-JP" altLang="en-US" sz="4000" dirty="0">
                <a:ea typeface="HGP教科書体" panose="02020600000000000000" pitchFamily="18" charset="-128"/>
              </a:rPr>
              <a:t>車、ディーゼル車は？</a:t>
            </a:r>
            <a:endParaRPr kumimoji="1" lang="ja-JP" altLang="en-US" sz="4000" dirty="0">
              <a:ea typeface="HGP教科書体" panose="02020600000000000000" pitchFamily="18" charset="-128"/>
            </a:endParaRPr>
          </a:p>
        </p:txBody>
      </p:sp>
      <p:graphicFrame>
        <p:nvGraphicFramePr>
          <p:cNvPr id="10" name="コンテンツ プレースホルダー 9">
            <a:extLst>
              <a:ext uri="{FF2B5EF4-FFF2-40B4-BE49-F238E27FC236}">
                <a16:creationId xmlns:a16="http://schemas.microsoft.com/office/drawing/2014/main" id="{65BB4897-F792-B1CC-B251-34F2332D8D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189539"/>
          <a:ext cx="10515600" cy="4478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9228473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0267722"/>
                    </a:ext>
                  </a:extLst>
                </a:gridCol>
              </a:tblGrid>
              <a:tr h="7464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2400" dirty="0">
                          <a:latin typeface="+mn-lt"/>
                          <a:ea typeface="HGP教科書体" panose="02020600000000000000" pitchFamily="18" charset="-128"/>
                        </a:rPr>
                        <a:t>2030</a:t>
                      </a:r>
                      <a:r>
                        <a:rPr kumimoji="1" lang="ja-JP" altLang="en-US" sz="2400" dirty="0">
                          <a:latin typeface="+mn-lt"/>
                          <a:ea typeface="HGP教科書体" panose="02020600000000000000" pitchFamily="18" charset="-128"/>
                        </a:rPr>
                        <a:t>年度燃費基準</a:t>
                      </a:r>
                      <a:r>
                        <a:rPr kumimoji="1" lang="en-US" altLang="ja-JP" sz="2400" dirty="0">
                          <a:latin typeface="+mn-lt"/>
                          <a:ea typeface="HGP教科書体" panose="02020600000000000000" pitchFamily="18" charset="-128"/>
                        </a:rPr>
                        <a:t>(※)</a:t>
                      </a:r>
                      <a:endParaRPr kumimoji="1" lang="ja-JP" altLang="en-US" sz="2400" dirty="0">
                        <a:latin typeface="+mn-lt"/>
                        <a:ea typeface="HGP教科書体" panose="020206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2400" dirty="0">
                          <a:latin typeface="+mn-lt"/>
                          <a:ea typeface="HGP教科書体" panose="02020600000000000000" pitchFamily="18" charset="-128"/>
                        </a:rPr>
                        <a:t>税率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720481"/>
                  </a:ext>
                </a:extLst>
              </a:tr>
              <a:tr h="7464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2400" dirty="0">
                          <a:latin typeface="+mn-lt"/>
                          <a:ea typeface="HGP教科書体" panose="02020600000000000000" pitchFamily="18" charset="-128"/>
                        </a:rPr>
                        <a:t>125</a:t>
                      </a:r>
                      <a:r>
                        <a:rPr kumimoji="1" lang="ja-JP" altLang="en-US" sz="2400" dirty="0">
                          <a:latin typeface="+mn-lt"/>
                          <a:ea typeface="HGP教科書体" panose="02020600000000000000" pitchFamily="18" charset="-128"/>
                        </a:rPr>
                        <a:t>％達成</a:t>
                      </a:r>
                      <a:endParaRPr kumimoji="1" lang="en-US" altLang="ja-JP" sz="2400" dirty="0">
                        <a:latin typeface="+mn-lt"/>
                        <a:ea typeface="HGP教科書体" panose="020206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2400" dirty="0">
                          <a:latin typeface="+mn-lt"/>
                          <a:ea typeface="HGP教科書体" panose="02020600000000000000" pitchFamily="18" charset="-128"/>
                        </a:rPr>
                        <a:t>初回車検および</a:t>
                      </a:r>
                      <a:r>
                        <a:rPr kumimoji="1" lang="en-US" altLang="ja-JP" sz="2400" dirty="0">
                          <a:latin typeface="+mn-lt"/>
                          <a:ea typeface="HGP教科書体" panose="02020600000000000000" pitchFamily="18" charset="-128"/>
                        </a:rPr>
                        <a:t>2</a:t>
                      </a:r>
                      <a:r>
                        <a:rPr kumimoji="1" lang="ja-JP" altLang="en-US" sz="2400" dirty="0">
                          <a:latin typeface="+mn-lt"/>
                          <a:ea typeface="HGP教科書体" panose="02020600000000000000" pitchFamily="18" charset="-128"/>
                        </a:rPr>
                        <a:t>回目の車検分を免税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032356"/>
                  </a:ext>
                </a:extLst>
              </a:tr>
              <a:tr h="7464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2400" dirty="0">
                          <a:latin typeface="+mn-lt"/>
                          <a:ea typeface="HGP教科書体" panose="02020600000000000000" pitchFamily="18" charset="-128"/>
                        </a:rPr>
                        <a:t>100</a:t>
                      </a:r>
                      <a:r>
                        <a:rPr kumimoji="1" lang="ja-JP" altLang="en-US" sz="2400" dirty="0">
                          <a:latin typeface="+mn-lt"/>
                          <a:ea typeface="HGP教科書体" panose="02020600000000000000" pitchFamily="18" charset="-128"/>
                        </a:rPr>
                        <a:t>％達成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2400" dirty="0">
                          <a:latin typeface="+mn-lt"/>
                          <a:ea typeface="HGP教科書体" panose="02020600000000000000" pitchFamily="18" charset="-128"/>
                        </a:rPr>
                        <a:t>初回車検分を免税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19900"/>
                  </a:ext>
                </a:extLst>
              </a:tr>
              <a:tr h="7464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2400" dirty="0">
                          <a:latin typeface="+mn-lt"/>
                          <a:ea typeface="HGP教科書体" panose="02020600000000000000" pitchFamily="18" charset="-128"/>
                        </a:rPr>
                        <a:t>90</a:t>
                      </a:r>
                      <a:r>
                        <a:rPr kumimoji="1" lang="ja-JP" altLang="en-US" sz="2400" dirty="0">
                          <a:latin typeface="+mn-lt"/>
                          <a:ea typeface="HGP教科書体" panose="02020600000000000000" pitchFamily="18" charset="-128"/>
                        </a:rPr>
                        <a:t>％達成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2400" dirty="0">
                          <a:latin typeface="+mn-lt"/>
                          <a:ea typeface="HGP教科書体" panose="02020600000000000000" pitchFamily="18" charset="-128"/>
                        </a:rPr>
                        <a:t>初回車検分を</a:t>
                      </a:r>
                      <a:r>
                        <a:rPr kumimoji="1" lang="en-US" altLang="ja-JP" sz="2400" dirty="0">
                          <a:latin typeface="+mn-lt"/>
                          <a:ea typeface="HGP教科書体" panose="02020600000000000000" pitchFamily="18" charset="-128"/>
                        </a:rPr>
                        <a:t>50</a:t>
                      </a:r>
                      <a:r>
                        <a:rPr kumimoji="1" lang="ja-JP" altLang="en-US" sz="2400" dirty="0">
                          <a:latin typeface="+mn-lt"/>
                          <a:ea typeface="HGP教科書体" panose="02020600000000000000" pitchFamily="18" charset="-128"/>
                        </a:rPr>
                        <a:t>％軽減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46763"/>
                  </a:ext>
                </a:extLst>
              </a:tr>
              <a:tr h="7464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2400" dirty="0">
                          <a:latin typeface="+mn-lt"/>
                          <a:ea typeface="HGP教科書体" panose="02020600000000000000" pitchFamily="18" charset="-128"/>
                        </a:rPr>
                        <a:t>80</a:t>
                      </a:r>
                      <a:r>
                        <a:rPr kumimoji="1" lang="ja-JP" altLang="en-US" sz="2400" dirty="0">
                          <a:latin typeface="+mn-lt"/>
                          <a:ea typeface="HGP教科書体" panose="02020600000000000000" pitchFamily="18" charset="-128"/>
                        </a:rPr>
                        <a:t>％達成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2400" dirty="0">
                          <a:latin typeface="+mn-lt"/>
                          <a:ea typeface="HGP教科書体" panose="02020600000000000000" pitchFamily="18" charset="-128"/>
                        </a:rPr>
                        <a:t>初回車検分を</a:t>
                      </a:r>
                      <a:r>
                        <a:rPr kumimoji="1" lang="en-US" altLang="ja-JP" sz="2400" dirty="0">
                          <a:latin typeface="+mn-lt"/>
                          <a:ea typeface="HGP教科書体" panose="02020600000000000000" pitchFamily="18" charset="-128"/>
                        </a:rPr>
                        <a:t>25</a:t>
                      </a:r>
                      <a:r>
                        <a:rPr kumimoji="1" lang="ja-JP" altLang="en-US" sz="2400" dirty="0">
                          <a:latin typeface="+mn-lt"/>
                          <a:ea typeface="HGP教科書体" panose="02020600000000000000" pitchFamily="18" charset="-128"/>
                        </a:rPr>
                        <a:t>％軽減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23239"/>
                  </a:ext>
                </a:extLst>
              </a:tr>
              <a:tr h="7464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2400" dirty="0">
                          <a:latin typeface="+mn-lt"/>
                          <a:ea typeface="HGP教科書体" panose="02020600000000000000" pitchFamily="18" charset="-128"/>
                        </a:rPr>
                        <a:t>75</a:t>
                      </a:r>
                      <a:r>
                        <a:rPr kumimoji="1" lang="ja-JP" altLang="en-US" sz="2400" dirty="0">
                          <a:latin typeface="+mn-lt"/>
                          <a:ea typeface="HGP教科書体" panose="02020600000000000000" pitchFamily="18" charset="-128"/>
                        </a:rPr>
                        <a:t>％達成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2400" dirty="0">
                          <a:latin typeface="+mn-lt"/>
                          <a:ea typeface="HGP教科書体" panose="02020600000000000000" pitchFamily="18" charset="-128"/>
                        </a:rPr>
                        <a:t>通常税率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405771"/>
                  </a:ext>
                </a:extLst>
              </a:tr>
            </a:tbl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8C42281-C05F-E648-60AF-46BDFAD62FE7}"/>
              </a:ext>
            </a:extLst>
          </p:cNvPr>
          <p:cNvSpPr txBox="1"/>
          <p:nvPr/>
        </p:nvSpPr>
        <p:spPr>
          <a:xfrm>
            <a:off x="838200" y="5791200"/>
            <a:ext cx="6156158" cy="884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dirty="0"/>
              <a:t>※</a:t>
            </a:r>
            <a:r>
              <a:rPr kumimoji="1" lang="ja-JP" altLang="en-US" dirty="0"/>
              <a:t>軽減対象は、</a:t>
            </a:r>
            <a:r>
              <a:rPr kumimoji="1" lang="en-US" altLang="ja-JP" dirty="0"/>
              <a:t>2020</a:t>
            </a:r>
            <a:r>
              <a:rPr kumimoji="1" lang="ja-JP" altLang="en-US" dirty="0"/>
              <a:t>年度燃費基準達成者に限る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lang="en-US" altLang="ja-JP" dirty="0"/>
              <a:t>※</a:t>
            </a:r>
            <a:r>
              <a:rPr lang="ja-JP" altLang="en-US" dirty="0"/>
              <a:t>ハイブリッド車を含む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4188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B94409-5C3E-1577-0A45-49E1476E3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2030</a:t>
            </a:r>
            <a:r>
              <a:rPr kumimoji="1" lang="ja-JP" altLang="en-US" dirty="0"/>
              <a:t>年度燃費基準とは？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B57ED7-6B6D-D09F-1E30-7F25D23C2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乗用車の平均燃費を</a:t>
            </a:r>
            <a:r>
              <a:rPr kumimoji="1" lang="en-US" altLang="ja-JP" dirty="0"/>
              <a:t>2016</a:t>
            </a:r>
            <a:r>
              <a:rPr kumimoji="1" lang="ja-JP" altLang="en-US" dirty="0"/>
              <a:t>年度比で約</a:t>
            </a:r>
            <a:r>
              <a:rPr kumimoji="1" lang="en-US" altLang="ja-JP" dirty="0"/>
              <a:t>32.4</a:t>
            </a:r>
            <a:r>
              <a:rPr kumimoji="1" lang="ja-JP" altLang="en-US" dirty="0"/>
              <a:t>％向上させ、</a:t>
            </a:r>
            <a:r>
              <a:rPr kumimoji="1" lang="en-US" altLang="ja-JP" dirty="0"/>
              <a:t>25.4km/L(WLTC</a:t>
            </a:r>
            <a:r>
              <a:rPr kumimoji="1" lang="ja-JP" altLang="en-US" dirty="0"/>
              <a:t>モード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を目標値とする国交省・経産省の規制</a:t>
            </a:r>
          </a:p>
        </p:txBody>
      </p:sp>
    </p:spTree>
    <p:extLst>
      <p:ext uri="{BB962C8B-B14F-4D97-AF65-F5344CB8AC3E}">
        <p14:creationId xmlns:p14="http://schemas.microsoft.com/office/powerpoint/2010/main" val="4227843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F4A5BE-4E10-71CA-6AD2-DBCCBF97A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参考文献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CAE570-01E4-7882-B3D2-84FBFF67C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fontAlgn="ctr">
              <a:buNone/>
            </a:pPr>
            <a:r>
              <a:rPr lang="ja-JP" altLang="en-US" sz="1800" dirty="0"/>
              <a:t>三井住友海上：エコカー減税とは？減税の対象車や対象期間、自動車税との関係</a:t>
            </a:r>
            <a:endParaRPr lang="en-US" altLang="ja-JP" sz="1800" dirty="0">
              <a:hlinkClick r:id="rId2"/>
            </a:endParaRPr>
          </a:p>
          <a:p>
            <a:pPr marL="0" indent="0" algn="l" fontAlgn="ctr">
              <a:buNone/>
            </a:pPr>
            <a:r>
              <a:rPr kumimoji="1" lang="en-US" altLang="ja-JP" sz="1800" dirty="0">
                <a:hlinkClick r:id="rId3"/>
              </a:rPr>
              <a:t>https://www.ms-ins.com/labo/higoro/article/104.html#anc-01</a:t>
            </a:r>
            <a:r>
              <a:rPr kumimoji="1" lang="ja-JP" altLang="en-US" sz="1800" dirty="0">
                <a:hlinkClick r:id="rId3"/>
              </a:rPr>
              <a:t>（最終閲覧日</a:t>
            </a:r>
            <a:r>
              <a:rPr kumimoji="1" lang="en-US" altLang="ja-JP" sz="1800" dirty="0">
                <a:hlinkClick r:id="rId3"/>
              </a:rPr>
              <a:t>2026.03.09</a:t>
            </a:r>
            <a:r>
              <a:rPr kumimoji="1" lang="en-US" altLang="ja-JP" sz="1800" dirty="0"/>
              <a:t>)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4200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301</Words>
  <Application>Microsoft Office PowerPoint</Application>
  <PresentationFormat>ワイド画面</PresentationFormat>
  <Paragraphs>46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HGP教科書体</vt:lpstr>
      <vt:lpstr>游ゴシック</vt:lpstr>
      <vt:lpstr>游ゴシック Light</vt:lpstr>
      <vt:lpstr>Arial</vt:lpstr>
      <vt:lpstr>Office テーマ</vt:lpstr>
      <vt:lpstr>エコカー減税・免税について</vt:lpstr>
      <vt:lpstr>エコカー減税・免税とは</vt:lpstr>
      <vt:lpstr>エコカー減税と免税の差</vt:lpstr>
      <vt:lpstr>その対象は？</vt:lpstr>
      <vt:lpstr>その期間は</vt:lpstr>
      <vt:lpstr>ガソリン車や・LPG車、ディーゼル車は？</vt:lpstr>
      <vt:lpstr>2030年度燃費基準とは？</vt:lpstr>
      <vt:lpstr>参考文献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名古屋・貝塚</dc:creator>
  <cp:lastModifiedBy>名古屋・貝塚</cp:lastModifiedBy>
  <cp:revision>2</cp:revision>
  <dcterms:created xsi:type="dcterms:W3CDTF">2026-03-09T06:23:45Z</dcterms:created>
  <dcterms:modified xsi:type="dcterms:W3CDTF">2026-03-09T07:02:36Z</dcterms:modified>
</cp:coreProperties>
</file>